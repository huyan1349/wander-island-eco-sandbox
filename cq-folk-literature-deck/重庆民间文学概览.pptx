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7259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巴渝文脉 · 口头传承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1072591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重庆民间文学以三大形态系统性承载巴渝文化记忆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828800" cy="45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3474720"/>
            <a:ext cx="338328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3474720"/>
            <a:ext cx="3383280" cy="73152"/>
          </a:xfrm>
          <a:prstGeom prst="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📖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554480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口头叙事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走马镇民间故事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45720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万余则故事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国家级非遗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80560" y="3474720"/>
            <a:ext cx="338328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80560" y="3474720"/>
            <a:ext cx="3383280" cy="73152"/>
          </a:xfrm>
          <a:prstGeom prst="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3" name="Text 11"/>
          <p:cNvSpPr/>
          <p:nvPr/>
        </p:nvSpPr>
        <p:spPr>
          <a:xfrm>
            <a:off x="475488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🎵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303520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劳动歌谣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0352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川江号子 · 木洞山歌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45720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两千年声腔传统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国家级非遗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0" y="3474720"/>
            <a:ext cx="3383280" cy="237744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3474720"/>
            <a:ext cx="3383280" cy="73152"/>
          </a:xfrm>
          <a:prstGeom prst="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8503920" y="37490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🏔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052560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信仰传说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05256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丰都鬼城 · 土家啰儿调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03920" y="45720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唯一鬼文化叙事</a:t>
            </a:r>
            <a:endParaRPr lang="en-US" sz="11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国家级非遗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5943600"/>
            <a:ext cx="10725912" cy="3657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989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巴渝口头传统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0" y="5989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2006年第一批国家级非物质文化遗产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" y="228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数据来源：国务院《第一批国家级非物质文化遗产名录》（2006）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594360"/>
            <a:ext cx="54864" cy="502920"/>
          </a:xfrm>
          <a:prstGeom prst="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走马镇民间故事——古驿道上的口头叙事宝库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万余则故事记录巴渝千年社会生活，唯一以“镇”为单位入选国家级非遗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82880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828800"/>
            <a:ext cx="73152" cy="82296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745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古驿道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17627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成渝东大路驿站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明末清初建场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26060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880360"/>
            <a:ext cx="73152" cy="822960"/>
          </a:xfrm>
          <a:prstGeom prst="rect">
            <a:avLst/>
          </a:prstGeom>
          <a:solidFill>
            <a:srgbClr val="92400E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赶马人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22783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以“走马”为业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口头创作与传承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0" y="3657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▼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93192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931920"/>
            <a:ext cx="73152" cy="8229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9776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故事类型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427939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神话·传说·生活故事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笑话·寓言·歇后语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▼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983480"/>
            <a:ext cx="475488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4983480"/>
            <a:ext cx="73152" cy="8229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50292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传承谱系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5330952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传承人朱伟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坚守四十余载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35040" y="1828800"/>
            <a:ext cx="5605272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309360" y="1965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217920" y="2423160"/>
            <a:ext cx="5239512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2423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故事总量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80960" y="24231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逾万则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52560" y="24231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全国乡镇级之最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0936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入选时间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8096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2006年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52560" y="2926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第一批国家级非遗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3429000"/>
            <a:ext cx="5239512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5" name="Text 33"/>
          <p:cNvSpPr/>
          <p:nvPr/>
        </p:nvSpPr>
        <p:spPr>
          <a:xfrm>
            <a:off x="6309360" y="3429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故事类型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680960" y="3429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6大类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05256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神话/传说/生活/笑话/寓言/歇后语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309360" y="3931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UNESCO关注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80960" y="3931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052560" y="3931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联合国教科文组织考察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17920" y="4434840"/>
            <a:ext cx="5239512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4434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传承人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80960" y="4434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朱伟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9052560" y="443484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四十余载坚守记录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309360" y="4937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地理位置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680960" y="4937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九龙坡区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052560" y="49377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成渝古驿道核心驿站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65760" y="5989320"/>
            <a:ext cx="1145743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9" name="Text 47"/>
          <p:cNvSpPr/>
          <p:nvPr/>
        </p:nvSpPr>
        <p:spPr>
          <a:xfrm>
            <a:off x="365760" y="60807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走马故事证明：口头叙事是地方历史最鲜活的载体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来源：国务院《第一批国家级非物质文化遗产名录》（2006）；个人调查走访记录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594360"/>
            <a:ext cx="54864" cy="502920"/>
          </a:xfrm>
          <a:prstGeom prst="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川江号子与木洞山歌——长江水系的声腔遗产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从“下里巴人”到川江号子，长江水系孕育了延续两千年的声腔传统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10725912" cy="274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2468880"/>
            <a:ext cx="320040" cy="3200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战国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下里巴人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291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宋玉《对楚王问》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“国中属而和者数千人”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03320" y="2468880"/>
            <a:ext cx="320040" cy="320040"/>
          </a:xfrm>
          <a:prstGeom prst="ellipse">
            <a:avLst/>
          </a:prstGeom>
          <a:solidFill>
            <a:srgbClr val="92400E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汉代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1752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巴子讴歌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926080" y="3291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巴人歌谣入史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民间传唱成风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97880" y="2468880"/>
            <a:ext cx="320040" cy="3200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539496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唐代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竹枝词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3291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刘禹锡改编入诗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“杨柳青青江水平”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92440" y="2468880"/>
            <a:ext cx="320040" cy="32004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明清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40664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号子·山歌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0" y="3291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川江号子定型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木洞山歌成熟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287000" y="2468880"/>
            <a:ext cx="320040" cy="32004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4" name="Text 22"/>
          <p:cNvSpPr/>
          <p:nvPr/>
        </p:nvSpPr>
        <p:spPr>
          <a:xfrm>
            <a:off x="9784080" y="1920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2006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01200" y="29260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国家级非遗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509760" y="329184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双双入选第一批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国家级非遗名录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420624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4206240"/>
            <a:ext cx="521208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川江号子  ·  水上活化石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" y="4663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长江三峡船工为统一动作和节奏创造的劳动号歌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类型：推桡号子 / 拖杠号子 / 扳艄号子 / 打扛号子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特点：一领众和，节奏随滩险变化，无乐器伴奏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45352" y="4206240"/>
            <a:ext cx="52120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45352" y="4206240"/>
            <a:ext cx="52120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6519672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木洞山歌  ·  山野之声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19672" y="46634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巴南区木洞镇，源流追溯至战国“下里巴人”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分类：禾籁 / 神歌 / 盘歌 / 劳动号子 / 小调</a:t>
            </a:r>
            <a:endParaRPr lang="en-US" sz="10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特点：即兴编唱，题材涵盖劳动、爱情、时政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5989320"/>
            <a:ext cx="1145743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6" name="Text 34"/>
          <p:cNvSpPr/>
          <p:nvPr/>
        </p:nvSpPr>
        <p:spPr>
          <a:xfrm>
            <a:off x="365760" y="60807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水陆双线歌谣体系是巴渝最悠久的活态声音遗产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来源：宋玉《对楚王问》；国务院《第一批国家级非物质文化遗产名录》（2006）；个人调查采集木洞山歌录音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594360"/>
            <a:ext cx="54864" cy="502920"/>
          </a:xfrm>
          <a:prstGeom prst="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丰都鬼城传说与土家啰儿调——信仰叙事与民族歌谣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鬼文化叙事构建中国唯一系统化冥界想象，啰儿调以歌谣承载土家族精神世界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37360"/>
            <a:ext cx="5212080" cy="640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丰都鬼城传说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中国唯一的系统化鬼文化叙事体系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历史积淀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94560" y="26517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两千余年，始于东汉，盛于唐宋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核心传说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32461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王方平、阴长生平都山修道成仙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“阴王”讹传为“阴间之王”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05840" y="38404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叙事体系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840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奈何桥→鬼门关→黄泉路→望乡台→十八层地狱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完整的冥界审判与轮回叙事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05840" y="44348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文化价值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94560" y="44348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民间信仰研究的独特样本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儒释道三教融合的民间表达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05840" y="50292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个人调查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94560" y="50292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访谈丰都当地居民，口述传统仍在延续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年轻一代认知度下降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45352" y="1737360"/>
            <a:ext cx="521208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45352" y="1737360"/>
            <a:ext cx="5212080" cy="6400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石柱土家啰儿调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19672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以歌谣承载土家族精神世界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519672" y="26517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地理位置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08392" y="265176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重庆石柱土家族自治县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19672" y="32461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代表作品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08392" y="32461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《太阳出来喜洋洋》——传唱全国的啰儿调经典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“太阳出来喜洋洋，挑起扁担上山岗”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519672" y="38404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音乐特征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08392" y="384048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调式：徵调式为主，旋律高亢嘹亮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形式：一领众和，即兴编词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519672" y="443484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文化内涵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08392" y="443484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土家族劳动生活的艺术化表达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融合巴人古歌与土家民歌传统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519672" y="50292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非遗保护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08392" y="502920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2006年第一批国家级非遗</a:t>
            </a:r>
            <a:endParaRPr lang="en-US" sz="9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传承人：黄代书等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65760" y="5989320"/>
            <a:ext cx="1145743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/>
          <p:nvPr/>
        </p:nvSpPr>
        <p:spPr>
          <a:xfrm>
            <a:off x="365760" y="60807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信仰叙事与民族歌谣是巴渝民间文学中最具辨识度的文化符号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来源：《丰都县志》；国务院《第一批国家级非物质文化遗产名录》（2006）；个人调查访谈丰都当地居民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65760" y="594360"/>
            <a:ext cx="54864" cy="502920"/>
          </a:xfrm>
          <a:prstGeom prst="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50292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传承与思考——非遗保护下的活态延续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94360" y="109728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国家级非遗保护提供制度保障，但活态传承仍面临代际断层挑战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73736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737360"/>
            <a:ext cx="3383280" cy="54864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965960"/>
            <a:ext cx="457200" cy="4572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5448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2240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制度保障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651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三批国家级非遗名录覆盖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3154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传承人认定与补贴制度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657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数字化记录与存档工程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480560" y="173736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80560" y="1737360"/>
            <a:ext cx="338328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6"/>
          <p:cNvSpPr/>
          <p:nvPr/>
        </p:nvSpPr>
        <p:spPr>
          <a:xfrm>
            <a:off x="4709160" y="196596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9" name="Text 17"/>
          <p:cNvSpPr/>
          <p:nvPr/>
        </p:nvSpPr>
        <p:spPr>
          <a:xfrm>
            <a:off x="470916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传承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03520" y="2240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活态延续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651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非遗进课堂（梁平木版年画案例）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3154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传承人驻校授课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54880" y="3657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社区传习所建设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63840" y="28346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2E8F0"/>
                </a:solidFill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8229600" y="1737360"/>
            <a:ext cx="338328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1737360"/>
            <a:ext cx="338328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8" name="Shape 26"/>
          <p:cNvSpPr/>
          <p:nvPr/>
        </p:nvSpPr>
        <p:spPr>
          <a:xfrm>
            <a:off x="8458200" y="1965960"/>
            <a:ext cx="457200" cy="4572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9" name="Text 27"/>
          <p:cNvSpPr/>
          <p:nvPr/>
        </p:nvSpPr>
        <p:spPr>
          <a:xfrm>
            <a:off x="845820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05256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52560" y="22402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融入当代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503920" y="2651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文创产品开发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3920" y="31546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文旅融合（丰都鬼城景区）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03920" y="36576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新媒体传播与年轻化表达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4709160"/>
            <a:ext cx="10725912" cy="1097280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4754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个人调查发现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05840" y="507492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通过走访重庆九龙坡走马镇、巴南木洞镇、丰都县及石柱县，访谈当地居民与非遗传承人，发现：</a:t>
            </a:r>
            <a:endParaRPr lang="en-US" sz="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老一辈居民对民间文学仍有丰富记忆，但年轻一代认知度明显偏低</a:t>
            </a:r>
            <a:endParaRPr lang="en-US" sz="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非遗进课堂成效初显，但覆盖面有限，多集中在城区</a:t>
            </a:r>
            <a:endParaRPr lang="en-US" sz="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民间文学的生命力在于“用”而非“存”——只有融入日常生活，才能真正延续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5989320"/>
            <a:ext cx="11457432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608076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民间文学的生命力在于“用”而非“存”——融入当代生活才是真正的传承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来源：文化和旅游部非遗司；个人调查走访（2025-2026）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巴渝文脉·口头传承——重庆民间文学概览</dc:title>
  <dc:subject>PptxGenJS Presentation</dc:subject>
  <dc:creator>重庆民间文学课堂作业</dc:creator>
  <cp:lastModifiedBy>重庆民间文学课堂作业</cp:lastModifiedBy>
  <cp:revision>1</cp:revision>
  <dcterms:created xsi:type="dcterms:W3CDTF">2026-06-18T00:21:23Z</dcterms:created>
  <dcterms:modified xsi:type="dcterms:W3CDTF">2026-06-18T00:21:23Z</dcterms:modified>
</cp:coreProperties>
</file>